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AC6C7-B700-4000-88C9-E9C741489AD6}" v="1" dt="2026-09-25T03:52:49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av Saha" userId="f37f63bbb4ce0d08" providerId="LiveId" clId="{3065B4BA-246C-4E6F-8DDD-0818D31CF784}"/>
    <pc:docChg chg="undo custSel modSld">
      <pc:chgData name="Gourav Saha" userId="f37f63bbb4ce0d08" providerId="LiveId" clId="{3065B4BA-246C-4E6F-8DDD-0818D31CF784}" dt="2026-09-25T04:37:58.947" v="395" actId="20577"/>
      <pc:docMkLst>
        <pc:docMk/>
      </pc:docMkLst>
      <pc:sldChg chg="addSp delSp modSp mod">
        <pc:chgData name="Gourav Saha" userId="f37f63bbb4ce0d08" providerId="LiveId" clId="{3065B4BA-246C-4E6F-8DDD-0818D31CF784}" dt="2026-09-25T04:37:58.947" v="395" actId="20577"/>
        <pc:sldMkLst>
          <pc:docMk/>
          <pc:sldMk cId="0" sldId="256"/>
        </pc:sldMkLst>
        <pc:spChg chg="mod">
          <ac:chgData name="Gourav Saha" userId="f37f63bbb4ce0d08" providerId="LiveId" clId="{3065B4BA-246C-4E6F-8DDD-0818D31CF784}" dt="2026-09-25T04:28:21.599" v="297" actId="10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Gourav Saha" userId="f37f63bbb4ce0d08" providerId="LiveId" clId="{3065B4BA-246C-4E6F-8DDD-0818D31CF784}" dt="2026-09-25T04:28:21.599" v="297" actId="10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Gourav Saha" userId="f37f63bbb4ce0d08" providerId="LiveId" clId="{3065B4BA-246C-4E6F-8DDD-0818D31CF784}" dt="2026-09-25T04:28:21.599" v="297" actId="10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Gourav Saha" userId="f37f63bbb4ce0d08" providerId="LiveId" clId="{3065B4BA-246C-4E6F-8DDD-0818D31CF784}" dt="2026-09-25T04:37:58.947" v="395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Gourav Saha" userId="f37f63bbb4ce0d08" providerId="LiveId" clId="{3065B4BA-246C-4E6F-8DDD-0818D31CF784}" dt="2026-09-25T03:51:46.247" v="73" actId="478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Gourav Saha" userId="f37f63bbb4ce0d08" providerId="LiveId" clId="{3065B4BA-246C-4E6F-8DDD-0818D31CF784}" dt="2026-09-25T03:56:10.504" v="253" actId="1076"/>
          <ac:spMkLst>
            <pc:docMk/>
            <pc:sldMk cId="0" sldId="256"/>
            <ac:spMk id="10" creationId="{10EB9E4B-5A99-3342-2D4B-0B04B6796D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1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731520"/>
            <a:ext cx="4114800" cy="41148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465259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RESOURCE ALLOCATION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6739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Simulated Annealing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4019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drones to task zones under battery constraints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46990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Team Members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Name: Gourav  Saha </a:t>
            </a:r>
            <a:b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Roll no.: 25WU0101042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Name: Yash Raj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Roll no.: 25WU0102307</a:t>
            </a:r>
            <a:b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Name: Pranav Yeddula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Roll no.: 25WU0102311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Name: Morla Kartik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Roll no.: 25WU0102166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Name: </a:t>
            </a:r>
            <a:r>
              <a:rPr lang="en-US" sz="1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Shwechitch</a:t>
            </a: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Roll no.: 25WU0102261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0EB9E4B-5A99-3342-2D4B-0B04B6796D0A}"/>
              </a:ext>
            </a:extLst>
          </p:cNvPr>
          <p:cNvSpPr txBox="1"/>
          <p:nvPr/>
        </p:nvSpPr>
        <p:spPr>
          <a:xfrm>
            <a:off x="6096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Course: Foundations of AI</a:t>
            </a:r>
            <a:b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Faculty: Dr. N. Steven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drone should serve which zone?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of drones must service a set of task zones (delivery points, survey sites, disaster-relief targets). Each zone needs exactly one drone; a drone may serve several zones.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total travel distance across the fleet, while respecting a per-drone battery / range cap.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(agents)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60604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4800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(tasks)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0233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66344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800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per assignment slot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64592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0B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0408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 →  ZONE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2743200"/>
            <a:ext cx="146304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680960" y="2743200"/>
            <a:ext cx="1371600" cy="54864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680960" y="4480560"/>
            <a:ext cx="155448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680960" y="4480560"/>
            <a:ext cx="1371600" cy="36576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607040" y="2377440"/>
            <a:ext cx="274320" cy="1463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607040" y="2377440"/>
            <a:ext cx="274320" cy="256032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552944" y="2615184"/>
            <a:ext cx="256032" cy="256032"/>
          </a:xfrm>
          <a:prstGeom prst="triangle">
            <a:avLst/>
          </a:prstGeom>
          <a:solidFill>
            <a:srgbClr val="21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552944" y="4352544"/>
            <a:ext cx="256032" cy="256032"/>
          </a:xfrm>
          <a:prstGeom prst="triangle">
            <a:avLst/>
          </a:prstGeom>
          <a:solidFill>
            <a:srgbClr val="21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479024" y="2249424"/>
            <a:ext cx="256032" cy="256032"/>
          </a:xfrm>
          <a:prstGeom prst="triangle">
            <a:avLst/>
          </a:prstGeom>
          <a:solidFill>
            <a:srgbClr val="21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061704" y="211226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970264" y="320954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53144" y="403250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970264" y="476402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799064" y="375818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799064" y="485546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04088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Drones     ● Zones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Simulated Annealing?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metal annealing: a hot metal is cooled slowly so its atoms settle into a low-energy, stable arrangement instead of freezing into the first shape they hit.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529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852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zone→drone assignment, high temperature 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112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5112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neighbor move: swap or reassign one zone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4197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696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4169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accept if better; accept worse with prob. exp(−Δcost / 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855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280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8280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 each step (T ← T × 0.995) and repeat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16002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RULE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331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P(accept) = exp( −Δcost / T )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06324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 (early): frequently accepts worse moves → explores broadly, escapes local optima.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(late): rarely accepts worse moves → fine-tunes around a good solution.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random instance to compared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Setup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2D coordinates for N drones (3–4) and M zones (6–8).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81528" y="3520440"/>
            <a:ext cx="192024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73552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02152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0215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2461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Euclidean drone→zone distances, plus a penalty if a drone's total distance exceeds its battery cap.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3520440"/>
            <a:ext cx="192024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98464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27064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22706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Solver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27064" y="32461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iterations: swap/reassign moves, Metropolis acceptance, geometric cooling (×0.995/step).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31352" y="3520440"/>
            <a:ext cx="192024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723376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607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951976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95197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51976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Baseline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51976" y="3246120"/>
            <a:ext cx="2057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independently picks its nearest drone — fast, but ignores load balance.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converges to a battery-safe, low-cost plan</a:t>
            </a:r>
            <a:endParaRPr lang="en-US" sz="2600" dirty="0"/>
          </a:p>
        </p:txBody>
      </p:sp>
      <p:pic>
        <p:nvPicPr>
          <p:cNvPr id="4" name="Image 0" descr="plot1_sa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577840" cy="34838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749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drops sharply as SA escapes an infeasible random start, then settles once battery limits are respected.</a:t>
            </a:r>
            <a:endParaRPr lang="en-US" sz="1200" dirty="0"/>
          </a:p>
        </p:txBody>
      </p:sp>
      <p:pic>
        <p:nvPicPr>
          <p:cNvPr id="6" name="Image 1" descr="plot3_final_rou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5166360" cy="5166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beats the greedy baseline by 85%</a:t>
            </a:r>
            <a:endParaRPr lang="en-US" sz="2600" dirty="0"/>
          </a:p>
        </p:txBody>
      </p:sp>
      <p:pic>
        <p:nvPicPr>
          <p:cNvPr id="4" name="Image 0" descr="plot2_sa_vs_gree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42062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69164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85216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(nearest-assignment)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103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picks its closest drone independently — one drone gets overloaded past its battery cap, triggering a heavy penalty.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333756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0B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85216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749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Rebalances load across drones to respect every battery cap, cutting total cost from 1164.2 to 171.8.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5029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cost — Greedy: 1164.2   |   Simulated Annealing: 171.8   |   Improvement: 85.2%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&amp; FUTURE SCOPE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beyond the classroom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battery-aware routing of survey/delivery drones over affected zones.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38912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423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packages across a limited drone fleet to cut total flight distance.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00100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inspection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423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inspection points to UAVs in agriculture, solar farms, or pipelines.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3659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(e.g. D-Wave) could explore the same assignment landscape via quantum tunneling instead of thermal noise — a natural next step once classical SA's limits are reached.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589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Gourav Saha</cp:lastModifiedBy>
  <cp:revision>2</cp:revision>
  <dcterms:created xsi:type="dcterms:W3CDTF">2026-09-24T14:05:26Z</dcterms:created>
  <dcterms:modified xsi:type="dcterms:W3CDTF">2026-09-25T04:38:05Z</dcterms:modified>
</cp:coreProperties>
</file>